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5" r:id="rId8"/>
    <p:sldId id="268" r:id="rId9"/>
    <p:sldId id="262" r:id="rId10"/>
    <p:sldId id="264" r:id="rId11"/>
    <p:sldId id="269" r:id="rId12"/>
    <p:sldId id="270" r:id="rId13"/>
    <p:sldId id="271" r:id="rId14"/>
    <p:sldId id="267" r:id="rId15"/>
    <p:sldId id="272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D:\The%20Open%20University\&#1502;&#1489;&#1493;&#1488;%20&#1500;&#1488;&#1489;&#1496;&#1495;&#1514;%20&#1492;&#1502;&#1512;&#1495;&#1489;%20&#1492;&#1502;&#1511;&#1493;&#1493;&#1503;%202026&#1488;\project_sheet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dirty="0"/>
              <a:t>Time to crack (s) - Password #1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Sheet1!$B$7</c:f>
              <c:strCache>
                <c:ptCount val="1"/>
                <c:pt idx="0">
                  <c:v>SHA256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Sheet1!$D$7</c:f>
              <c:numCache>
                <c:formatCode>General</c:formatCode>
                <c:ptCount val="1"/>
                <c:pt idx="0">
                  <c:v>874.09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30C2-44B9-94FF-15C299FC21DF}"/>
            </c:ext>
          </c:extLst>
        </c:ser>
        <c:ser>
          <c:idx val="1"/>
          <c:order val="1"/>
          <c:tx>
            <c:strRef>
              <c:f>Sheet1!$B$8</c:f>
              <c:strCache>
                <c:ptCount val="1"/>
                <c:pt idx="0">
                  <c:v>Argon2id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Sheet1!$D$8</c:f>
              <c:numCache>
                <c:formatCode>General</c:formatCode>
                <c:ptCount val="1"/>
                <c:pt idx="0">
                  <c:v>2929.46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30C2-44B9-94FF-15C299FC21DF}"/>
            </c:ext>
          </c:extLst>
        </c:ser>
        <c:ser>
          <c:idx val="2"/>
          <c:order val="2"/>
          <c:tx>
            <c:strRef>
              <c:f>Sheet1!$B$9</c:f>
              <c:strCache>
                <c:ptCount val="1"/>
                <c:pt idx="0">
                  <c:v>bcrypt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Sheet1!$D$9</c:f>
              <c:numCache>
                <c:formatCode>General</c:formatCode>
                <c:ptCount val="1"/>
                <c:pt idx="0">
                  <c:v>5772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30C2-44B9-94FF-15C299FC21DF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669900415"/>
        <c:axId val="669900895"/>
      </c:barChart>
      <c:catAx>
        <c:axId val="66990041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69900895"/>
        <c:crosses val="autoZero"/>
        <c:auto val="1"/>
        <c:lblAlgn val="ctr"/>
        <c:lblOffset val="100"/>
        <c:noMultiLvlLbl val="0"/>
      </c:catAx>
      <c:valAx>
        <c:axId val="66990089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66990041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3000" dirty="0"/>
              <a:t>Time to crack (s) - Password #2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Sheet1!$G$7</c:f>
              <c:strCache>
                <c:ptCount val="1"/>
                <c:pt idx="0">
                  <c:v>SHA256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Sheet1!$I$7</c:f>
              <c:numCache>
                <c:formatCode>General</c:formatCode>
                <c:ptCount val="1"/>
                <c:pt idx="0">
                  <c:v>745.4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0-F1C1-438D-BDEB-1902E2EE2E71}"/>
            </c:ext>
          </c:extLst>
        </c:ser>
        <c:ser>
          <c:idx val="1"/>
          <c:order val="1"/>
          <c:tx>
            <c:strRef>
              <c:f>Sheet1!$G$8</c:f>
              <c:strCache>
                <c:ptCount val="1"/>
                <c:pt idx="0">
                  <c:v>Argon2id</c:v>
                </c:pt>
              </c:strCache>
            </c:strRef>
          </c:tx>
          <c:spPr>
            <a:solidFill>
              <a:schemeClr val="accent2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Sheet1!$I$8</c:f>
              <c:numCache>
                <c:formatCode>General</c:formatCode>
                <c:ptCount val="1"/>
                <c:pt idx="0">
                  <c:v>2028.17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1-F1C1-438D-BDEB-1902E2EE2E71}"/>
            </c:ext>
          </c:extLst>
        </c:ser>
        <c:ser>
          <c:idx val="2"/>
          <c:order val="2"/>
          <c:tx>
            <c:strRef>
              <c:f>Sheet1!$G$9</c:f>
              <c:strCache>
                <c:ptCount val="1"/>
                <c:pt idx="0">
                  <c:v>bcrypt</c:v>
                </c:pt>
              </c:strCache>
            </c:strRef>
          </c:tx>
          <c:spPr>
            <a:solidFill>
              <a:schemeClr val="accent3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Lit>
              <c:ptCount val="1"/>
              <c:pt idx="0">
                <c:v>2</c:v>
              </c:pt>
              <c:extLst>
                <c:ext xmlns:c15="http://schemas.microsoft.com/office/drawing/2012/chart" uri="{02D57815-91ED-43cb-92C2-25804820EDAC}">
                  <c15:autoCat val="1"/>
                </c:ext>
              </c:extLst>
            </c:strLit>
          </c:cat>
          <c:val>
            <c:numRef>
              <c:f>Sheet1!$I$9</c:f>
              <c:numCache>
                <c:formatCode>General</c:formatCode>
                <c:ptCount val="1"/>
                <c:pt idx="0">
                  <c:v>8363</c:v>
                </c:pt>
              </c:numCache>
              <c:extLst/>
            </c:numRef>
          </c:val>
          <c:extLst>
            <c:ext xmlns:c16="http://schemas.microsoft.com/office/drawing/2014/chart" uri="{C3380CC4-5D6E-409C-BE32-E72D297353CC}">
              <c16:uniqueId val="{00000002-F1C1-438D-BDEB-1902E2EE2E7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474516495"/>
        <c:axId val="474516975"/>
      </c:barChart>
      <c:catAx>
        <c:axId val="474516495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74516975"/>
        <c:crosses val="autoZero"/>
        <c:auto val="1"/>
        <c:lblAlgn val="ctr"/>
        <c:lblOffset val="100"/>
        <c:noMultiLvlLbl val="0"/>
      </c:catAx>
      <c:valAx>
        <c:axId val="474516975"/>
        <c:scaling>
          <c:orientation val="minMax"/>
        </c:scaling>
        <c:delete val="1"/>
        <c:axPos val="l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crossAx val="47451649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solidFill>
          <a:schemeClr val="lt1">
            <a:lumMod val="95000"/>
            <a:alpha val="39000"/>
          </a:schemeClr>
        </a:solidFill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3000"/>
              <a:t>Time to crack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Sheet1!$N$6</c:f>
              <c:strCache>
                <c:ptCount val="1"/>
                <c:pt idx="0">
                  <c:v>Time (s)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Sheet1!$M$7:$M$8</c:f>
              <c:strCache>
                <c:ptCount val="2"/>
                <c:pt idx="0">
                  <c:v>Basic</c:v>
                </c:pt>
                <c:pt idx="1">
                  <c:v>Rate limited</c:v>
                </c:pt>
              </c:strCache>
            </c:strRef>
          </c:cat>
          <c:val>
            <c:numRef>
              <c:f>Sheet1!$N$7:$N$8</c:f>
              <c:numCache>
                <c:formatCode>General</c:formatCode>
                <c:ptCount val="2"/>
                <c:pt idx="0">
                  <c:v>745</c:v>
                </c:pt>
                <c:pt idx="1">
                  <c:v>2930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C01-48C3-91D0-DD6905FBF69D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857137104"/>
        <c:axId val="1074975615"/>
      </c:barChart>
      <c:catAx>
        <c:axId val="85713710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74975615"/>
        <c:crosses val="autoZero"/>
        <c:auto val="1"/>
        <c:lblAlgn val="ctr"/>
        <c:lblOffset val="100"/>
        <c:noMultiLvlLbl val="0"/>
      </c:catAx>
      <c:valAx>
        <c:axId val="1074975615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85713710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3000"/>
              <a:t>Time</a:t>
            </a:r>
            <a:r>
              <a:rPr lang="he-IL" sz="3000"/>
              <a:t> </a:t>
            </a:r>
            <a:r>
              <a:rPr lang="en-US" sz="3000"/>
              <a:t>to crack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Sheet1!$P$32</c:f>
              <c:strCache>
                <c:ptCount val="1"/>
                <c:pt idx="0">
                  <c:v>Time (s)</c:v>
                </c:pt>
              </c:strCache>
            </c:strRef>
          </c:tx>
          <c:spPr>
            <a:gradFill>
              <a:gsLst>
                <a:gs pos="0">
                  <a:schemeClr val="accent1"/>
                </a:gs>
                <a:gs pos="100000">
                  <a:schemeClr val="accent1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Sheet1!$O$33:$O$34</c:f>
              <c:strCache>
                <c:ptCount val="2"/>
                <c:pt idx="0">
                  <c:v>Basic</c:v>
                </c:pt>
                <c:pt idx="1">
                  <c:v>Pepper</c:v>
                </c:pt>
              </c:strCache>
            </c:strRef>
          </c:cat>
          <c:val>
            <c:numRef>
              <c:f>Sheet1!$P$33:$P$34</c:f>
              <c:numCache>
                <c:formatCode>General</c:formatCode>
                <c:ptCount val="2"/>
                <c:pt idx="0">
                  <c:v>874</c:v>
                </c:pt>
                <c:pt idx="1">
                  <c:v>918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11C-4CC2-8A5A-0ABA1DA0CAFC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22134224"/>
        <c:axId val="2022135184"/>
      </c:barChart>
      <c:catAx>
        <c:axId val="202213422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2135184"/>
        <c:crosses val="autoZero"/>
        <c:auto val="1"/>
        <c:lblAlgn val="ctr"/>
        <c:lblOffset val="100"/>
        <c:noMultiLvlLbl val="0"/>
      </c:catAx>
      <c:valAx>
        <c:axId val="2022135184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221342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30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r>
              <a:rPr lang="en-US" sz="3000"/>
              <a:t>Time to crack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3000" b="0" i="0" u="none" strike="noStrike" kern="1200" baseline="0">
              <a:solidFill>
                <a:schemeClr val="dk1">
                  <a:lumMod val="65000"/>
                  <a:lumOff val="35000"/>
                </a:schemeClr>
              </a:solidFill>
              <a:effectLst/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Sheet1!$P$38:$P$39</c:f>
              <c:strCache>
                <c:ptCount val="2"/>
                <c:pt idx="0">
                  <c:v>CAPTCHA CHECK</c:v>
                </c:pt>
                <c:pt idx="1">
                  <c:v>Time (s)</c:v>
                </c:pt>
              </c:strCache>
            </c:strRef>
          </c:tx>
          <c:spPr>
            <a:gradFill>
              <a:gsLst>
                <a:gs pos="0">
                  <a:schemeClr val="accent2"/>
                </a:gs>
                <a:gs pos="100000">
                  <a:schemeClr val="accent2">
                    <a:lumMod val="84000"/>
                  </a:schemeClr>
                </a:gs>
              </a:gsLst>
              <a:lin ang="5400000" scaled="1"/>
            </a:gradFill>
            <a:ln>
              <a:noFill/>
            </a:ln>
            <a:effectLst>
              <a:outerShdw blurRad="76200" dir="18900000" sy="23000" kx="-1200000" algn="bl" rotWithShape="0">
                <a:prstClr val="black">
                  <a:alpha val="20000"/>
                </a:prstClr>
              </a:outerShdw>
            </a:effectLst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Sheet1!$O$40:$O$41</c:f>
              <c:strCache>
                <c:ptCount val="2"/>
                <c:pt idx="0">
                  <c:v>Basic</c:v>
                </c:pt>
                <c:pt idx="1">
                  <c:v>CAPTCHA</c:v>
                </c:pt>
              </c:strCache>
            </c:strRef>
          </c:cat>
          <c:val>
            <c:numRef>
              <c:f>Sheet1!$P$40:$P$41</c:f>
              <c:numCache>
                <c:formatCode>General</c:formatCode>
                <c:ptCount val="2"/>
                <c:pt idx="0">
                  <c:v>874</c:v>
                </c:pt>
                <c:pt idx="1">
                  <c:v>984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2DA-4436-8F97-2B7F472AC1D6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41"/>
        <c:axId val="2099116496"/>
        <c:axId val="829267120"/>
      </c:barChart>
      <c:catAx>
        <c:axId val="209911649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65000"/>
                    <a:lumOff val="35000"/>
                  </a:schemeClr>
                </a:solidFill>
                <a:effectLst/>
                <a:latin typeface="+mn-lt"/>
                <a:ea typeface="+mn-ea"/>
                <a:cs typeface="+mn-cs"/>
              </a:defRPr>
            </a:pPr>
            <a:endParaRPr lang="en-US"/>
          </a:p>
        </c:txPr>
        <c:crossAx val="829267120"/>
        <c:crosses val="autoZero"/>
        <c:auto val="1"/>
        <c:lblAlgn val="ctr"/>
        <c:lblOffset val="100"/>
        <c:noMultiLvlLbl val="0"/>
      </c:catAx>
      <c:valAx>
        <c:axId val="829267120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209911649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lt1"/>
        </a:gs>
        <a:gs pos="68000">
          <a:schemeClr val="lt1">
            <a:lumMod val="85000"/>
          </a:schemeClr>
        </a:gs>
        <a:gs pos="100000">
          <a:schemeClr val="lt1"/>
        </a:gs>
      </a:gsLst>
      <a:lin ang="5400000" scaled="1"/>
      <a:tileRect/>
    </a:gradFill>
    <a:ln w="9525" cap="flat" cmpd="sng" algn="ctr">
      <a:solidFill>
        <a:schemeClr val="dk1">
          <a:lumMod val="15000"/>
          <a:lumOff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Time to crack (s)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>
                  <a:lumMod val="75000"/>
                  <a:lumOff val="2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Sheet1!$I$47</c:f>
              <c:strCache>
                <c:ptCount val="1"/>
                <c:pt idx="0">
                  <c:v>Time</c:v>
                </c:pt>
              </c:strCache>
            </c:strRef>
          </c:tx>
          <c:spPr>
            <a:solidFill>
              <a:schemeClr val="accent1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Sheet1!$H$48:$H$51</c:f>
              <c:strCache>
                <c:ptCount val="4"/>
                <c:pt idx="0">
                  <c:v>Basic</c:v>
                </c:pt>
                <c:pt idx="1">
                  <c:v>Basic with PEPPER</c:v>
                </c:pt>
                <c:pt idx="2">
                  <c:v>Basic with CAPTCHA</c:v>
                </c:pt>
                <c:pt idx="3">
                  <c:v>Basic with RATELIMIT</c:v>
                </c:pt>
              </c:strCache>
            </c:strRef>
          </c:cat>
          <c:val>
            <c:numRef>
              <c:f>Sheet1!$I$48:$I$51</c:f>
              <c:numCache>
                <c:formatCode>General</c:formatCode>
                <c:ptCount val="4"/>
                <c:pt idx="0">
                  <c:v>874</c:v>
                </c:pt>
                <c:pt idx="1">
                  <c:v>918</c:v>
                </c:pt>
                <c:pt idx="2">
                  <c:v>984</c:v>
                </c:pt>
                <c:pt idx="3">
                  <c:v>2930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16-4173-875B-96068E40F501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119539135"/>
        <c:axId val="1119536735"/>
      </c:barChart>
      <c:catAx>
        <c:axId val="1119539135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536735"/>
        <c:crosses val="autoZero"/>
        <c:auto val="1"/>
        <c:lblAlgn val="ctr"/>
        <c:lblOffset val="100"/>
        <c:noMultiLvlLbl val="0"/>
      </c:catAx>
      <c:valAx>
        <c:axId val="1119536735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19539135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05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204">
  <cs:axisTitle>
    <cs:lnRef idx="0"/>
    <cs:fillRef idx="0"/>
    <cs:effectRef idx="0"/>
    <cs:fontRef idx="minor">
      <a:schemeClr val="dk1">
        <a:lumMod val="65000"/>
        <a:lumOff val="3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>
      <a:effectLst/>
    </cs:defRPr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68000">
            <a:schemeClr val="lt1">
              <a:lumMod val="85000"/>
            </a:schemeClr>
          </a:gs>
          <a:gs pos="100000">
            <a:schemeClr val="lt1"/>
          </a:gs>
        </a:gsLst>
        <a:lin ang="5400000" scaled="1"/>
        <a:tileRect/>
      </a:gradFill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lt1"/>
    </cs:fontRef>
    <cs:spPr/>
    <cs:defRPr sz="10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10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28575" cap="rnd">
        <a:gradFill>
          <a:gsLst>
            <a:gs pos="0">
              <a:schemeClr val="phClr"/>
            </a:gs>
            <a:gs pos="100000">
              <a:schemeClr val="phClr">
                <a:lumMod val="84000"/>
              </a:schemeClr>
            </a:gs>
          </a:gsLst>
          <a:lin ang="5400000" scaled="1"/>
        </a:gra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gradFill>
        <a:gsLst>
          <a:gs pos="0">
            <a:schemeClr val="phClr"/>
          </a:gs>
          <a:gs pos="100000">
            <a:schemeClr val="phClr">
              <a:lumMod val="84000"/>
            </a:schemeClr>
          </a:gs>
        </a:gsLst>
        <a:lin ang="5400000" scaled="1"/>
      </a:gradFill>
      <a:effectLst>
        <a:outerShdw blurRad="76200" dir="18900000" sy="23000" kx="-1200000" algn="bl" rotWithShape="0">
          <a:prstClr val="black">
            <a:alpha val="20000"/>
          </a:prstClr>
        </a:outerShdw>
      </a:effectLst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65000"/>
        <a:lumOff val="35000"/>
      </a:schemeClr>
    </cs:fontRef>
    <cs:spPr>
      <a:ln w="9525">
        <a:solidFill>
          <a:schemeClr val="dk1">
            <a:lumMod val="15000"/>
            <a:lumOff val="8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dk1">
            <a:lumMod val="50000"/>
            <a:lumOff val="5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solidFill>
          <a:schemeClr val="dk1">
            <a:lumMod val="5000"/>
            <a:lumOff val="95000"/>
          </a:schemeClr>
        </a:soli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65000"/>
        <a:lumOff val="35000"/>
      </a:schemeClr>
    </cs:fontRef>
    <cs:spPr>
      <a:ln w="9525" cap="flat" cmpd="sng" algn="ctr">
        <a:solidFill>
          <a:schemeClr val="dk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65000"/>
        <a:lumOff val="35000"/>
      </a:schemeClr>
    </cs:fontRef>
    <cs:defRPr kern="1200">
      <a:effectLst/>
    </cs:defRPr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dk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dk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9D5DBC-4FAE-B57C-D3D7-E1308F26C1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2E3E757-C6D8-37B6-0B1F-F368007D0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E46424-824F-1B15-A938-D22C058DA2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25C0C-F699-C750-8928-68248AA143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E1E20E-EF28-0F07-4ECC-281D39DC57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7581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9D910-10B7-5817-05CE-34037BF6CE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D2CCD-3C49-1AD7-984E-C4A945BEC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B6BDD-AE3F-C1E6-CBB2-2AA7E8101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06EA66-F739-8E93-9241-474E4788A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E5C017-35F1-C64A-F05C-98A921394F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354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8AE2C4-D335-B2ED-BE5E-8B510902F8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81AADC9-32D1-FF13-727A-DB00628954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52B060-F570-6DE6-C039-B29C29229B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1E1B6F-92D9-F7BE-FF3A-9B02BDE79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916832-8180-6797-FFEC-AD9037CE67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9955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9ACC1-1776-B5F6-7A8E-25ED9DB99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8EC33-2CBA-15B0-3BAD-A0493745CC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1A1FD1-1895-9141-78B7-9DD984B1E2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84B1C0-F54D-B6E6-F104-8A687F25D7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242BCE-6DD9-B9C0-B53C-1102AD2D38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26A1BA-0FBC-E8C5-AEF4-C05A653E7A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922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8B014-954D-62F1-D8A1-8A3FC5E70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71C5DB-8E02-29F4-D2F9-59313B2F2C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39E0E5-E735-6EDC-8B3B-95388EA09D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E13EE8C-A2EA-F6BC-497E-A08E0BF39F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25C10F5-3246-B150-27DD-36FFC962CF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9A82D64-266D-B4C4-D398-FDCC29AE2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4101B1-6F1E-EA76-0A8B-AA1F347B33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9B911C0-69EF-F1FA-6BA0-B9B3DB27A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69109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558D61-D42E-4AAC-C1E1-E35ACE909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3158AD-F9E3-9623-8410-7F1E7CF756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38DE77-CE73-54F1-F079-5031D389D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4203FF-B9F4-33AA-5F5E-BB89CD7C3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539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AF7749-666B-C76A-8E29-081ECA1508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E7D4769-76C7-DFE6-085E-A90222C48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EB67C91-DD7B-5C22-C716-7F7622C15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7501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B47B39-C368-125B-A111-1E96CC3B77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765980-96FC-D29B-903C-2D45057BDD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BC8538-EADD-6A0C-A09D-1DE1BAE829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78E8E9-74A2-5553-2CB2-0B34E4A36E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9C413E-687C-67C9-5207-39EC588BA9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916A4F-433B-47A7-3754-21B45A01D4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0863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9FF7C-5562-4F10-4BB7-C5F362361D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8D4B57-C295-7BE3-56BE-EC66062EB58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E6D2EC-9032-6F79-49D5-154A9B0FBE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D8239E-3AAE-38CE-6267-6ED19DBB3B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2D24-B792-406F-A221-8880146DC0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12C530-EF64-26EA-FAB4-B966C49B2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084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5AEE68-29E4-279D-A9A3-24C601F47D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10103D-1668-AEB2-9C81-B8147DE596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82EF0-4102-5EE8-D0F9-E7520228DE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A993CB-A300-02BB-AE34-BCB273D129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BF624E-2AE8-716A-19A8-CDC3ED13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30850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ED331-8996-B742-D11D-BA98055A32C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F9B043B-904F-3856-601A-7ADA53626C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EDF38F-6BE1-4182-1407-4595A773F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95D9CE-5797-4837-6835-8B047CCC84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352C1-AB6B-0099-07DA-51892DF81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5795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10612E2-6098-E5F2-FA23-EABE92F1D7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8E18618-061C-DC1A-FC86-0F6803E187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CAF02D-2AFC-7B48-719D-11354E70E25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CB54D83-23D0-4CB1-83FB-6BEDA6634BF4}" type="datetimeFigureOut">
              <a:rPr lang="en-US" smtClean="0"/>
              <a:t>1/7/2026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4A529B-8E3A-37DF-4F96-FF93E12E1E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5EB9-E841-6F93-B8B2-02B6462236C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61BA281-1F1D-4829-AAA3-3C74837E91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81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C6CAEA-68F4-6E08-BB7D-66A1A99F9D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he-IL" dirty="0">
                <a:cs typeface="+mn-cs"/>
              </a:rPr>
              <a:t>מטלה תכנותית</a:t>
            </a:r>
            <a:br>
              <a:rPr lang="he-IL" dirty="0">
                <a:cs typeface="+mn-cs"/>
              </a:rPr>
            </a:br>
            <a:r>
              <a:rPr lang="he-IL" dirty="0">
                <a:cs typeface="+mn-cs"/>
              </a:rPr>
              <a:t>קורס 20940</a:t>
            </a:r>
            <a:endParaRPr lang="en-US" dirty="0"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FDAEE1-A670-FA05-F27A-AE24F89318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e-IL" dirty="0" err="1"/>
              <a:t>ממ"ן</a:t>
            </a:r>
            <a:r>
              <a:rPr lang="he-IL" dirty="0"/>
              <a:t> 16, מבוא לאבטחת המרחב המקוון</a:t>
            </a:r>
          </a:p>
          <a:p>
            <a:endParaRPr lang="he-IL" dirty="0"/>
          </a:p>
          <a:p>
            <a:pPr rtl="1"/>
            <a:r>
              <a:rPr lang="he-IL" dirty="0"/>
              <a:t>עידו קלמן (331771535) ואורי סטרוק (338054042)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12278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1CAE2-DDB5-6513-E966-ABA906D43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מבוא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282EB-D5AB-7661-361E-4EA6FDE9D5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41667"/>
            <a:ext cx="10515600" cy="4351338"/>
          </a:xfrm>
        </p:spPr>
        <p:txBody>
          <a:bodyPr/>
          <a:lstStyle/>
          <a:p>
            <a:pPr algn="r" rtl="1"/>
            <a:r>
              <a:rPr lang="he-IL" dirty="0"/>
              <a:t>בניסוי זה נסקור מנגנוני אימות שונים מבוססי סיסמאות, שהם שכבת האבטחה המרכזית ברוב המערכות המודרניות.</a:t>
            </a:r>
          </a:p>
          <a:p>
            <a:pPr algn="r" rtl="1"/>
            <a:endParaRPr lang="he-IL" dirty="0"/>
          </a:p>
          <a:p>
            <a:pPr algn="r" rtl="1"/>
            <a:r>
              <a:rPr lang="he-IL" dirty="0"/>
              <a:t>היעילות של שכבת אבטחה זו תלויה בצורה ישירה הן בהגנות הממומשות על ידי שרת האימות, והן באפקטיביות של אלגוריתמי הגיבוב בהם השרת משתמש על מנת לעבד את סיסמאות המשתמשים.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757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D8D625-E00B-D304-822E-E2C1DF4C13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cs typeface="+mn-cs"/>
              </a:rPr>
              <a:t>תהליך הגיבוב</a:t>
            </a:r>
            <a:endParaRPr lang="en-US" dirty="0"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71D011-11D6-4253-0055-AF2830D675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/>
              <a:t>גיבוב סיסמאות הוא תהליך </a:t>
            </a:r>
            <a:r>
              <a:rPr lang="he-IL" b="1" dirty="0"/>
              <a:t>חד כיווני</a:t>
            </a:r>
            <a:r>
              <a:rPr lang="he-IL" dirty="0"/>
              <a:t> שבו הסיסמה המקורית של המשתמש מומרת למחרוזת באורך קבוע באמצעות אלגוריתם מתמטי</a:t>
            </a:r>
          </a:p>
          <a:p>
            <a:pPr algn="r" rtl="1"/>
            <a:r>
              <a:rPr lang="he-IL" dirty="0"/>
              <a:t>אחת המטרות של גיבוב סיסמאות הוא לא לאחסן את הסיסמה בפורמט קריא, אלא רק את הגיבוב</a:t>
            </a:r>
            <a:endParaRPr lang="en-US" dirty="0"/>
          </a:p>
        </p:txBody>
      </p:sp>
      <p:pic>
        <p:nvPicPr>
          <p:cNvPr id="1026" name="Picture 2" descr="What is password hashing?">
            <a:extLst>
              <a:ext uri="{FF2B5EF4-FFF2-40B4-BE49-F238E27FC236}">
                <a16:creationId xmlns:a16="http://schemas.microsoft.com/office/drawing/2014/main" id="{4A33FFDE-7A7A-6A48-DDCF-A4FED7EFB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8798" y="3632764"/>
            <a:ext cx="4807834" cy="25441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240840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0D389B-379C-B611-C274-05DF46E021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מתקפת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109B04-51F9-201C-533D-AACD15A35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מתקפה שבה התוקף מנסה באופן שיטתי מספר רב של סיסמאות עד למציאת הסיסמה הנכונה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מתבססת על ידיעה של שם המשתמש שאליו התוקף מנסה לפרוץ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בדרך כלל מתבצעת על ידי סריקה וניסוי של כל מרחק הפתרונות והצירופים האפשריים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52537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A9E239-7F49-A935-167B-CDEC02B12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E151A-C283-303B-16C5-D5F55E89DF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מתקפת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Password Spray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685B40-7838-C199-7C01-50066377DE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מתקפה הפוכה בגישתה ממתקפת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– במקום לנסות הרבה סיסמאות על משתמש אחד, מנסים מספר מצומצם יותר של סיסמאות שנחשבות נפוצות על חשבונות רבים.</a:t>
            </a:r>
          </a:p>
          <a:p>
            <a:pPr algn="r" rt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7122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CBCB3-D615-636B-80B1-3B8C499C6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9AB892-6FD6-A346-C3E7-4E17F75FB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מתודולוגיית ניסויים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DF9A73-D271-91F1-B1B6-D5D9A2A6A8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המטרה הראשונה שלנו היא לבחון בנפרד את היעילות של כל אחד מהאלגוריתמים לגיבוב הסיסמאות. ולכן: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ניסוי 1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ללא הגנות מיוחדות, עם האלגוריתם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SHA256</a:t>
            </a:r>
            <a:endParaRPr lang="he-I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</a:rPr>
              <a:t>ניסוי 2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r>
              <a:rPr lang="he-IL" dirty="0">
                <a:latin typeface="Arial" panose="020B0604020202020204" pitchFamily="34" charset="0"/>
              </a:rPr>
              <a:t>, ללא הגנות מיוחדות, עם האלגוריתם </a:t>
            </a:r>
            <a:r>
              <a:rPr lang="en-US" b="1" dirty="0" err="1">
                <a:latin typeface="Arial" panose="020B0604020202020204" pitchFamily="34" charset="0"/>
              </a:rPr>
              <a:t>Bcrypt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</a:rPr>
              <a:t>ניסוי 3 –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r>
              <a:rPr lang="he-IL" dirty="0">
                <a:latin typeface="Arial" panose="020B0604020202020204" pitchFamily="34" charset="0"/>
              </a:rPr>
              <a:t>, ללא הגנות מיוחדות, עם האלגוריתם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Argon2id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88878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DDECDBBE-C4FE-B401-8FED-6107F1E3776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42324652"/>
              </p:ext>
            </p:extLst>
          </p:nvPr>
        </p:nvGraphicFramePr>
        <p:xfrm>
          <a:off x="728885" y="341745"/>
          <a:ext cx="10734230" cy="59897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0777426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E67AA828-28FF-7302-8CB4-C41363A6845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5523925"/>
              </p:ext>
            </p:extLst>
          </p:nvPr>
        </p:nvGraphicFramePr>
        <p:xfrm>
          <a:off x="946164" y="449984"/>
          <a:ext cx="10299671" cy="595803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7519829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68325-95B9-A494-B981-EA1EBA72D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1B630-7D43-8A53-BDF8-91C3ADDC64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התוצאות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7F35D2-4934-70AF-3002-E54C2EB116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באופן חד משמעי ניתן לקבוע כי דירוג האלגוריתמים (מבחינת כמות הזמן הנדרשת לפצח את אותן סיסמאות, עם אלגוריתם אחר בכל פעם) הוא: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במקום הראשון – 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bcrypt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במקום השני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argon2id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במקום האחרון –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SHA256</a:t>
            </a:r>
            <a:endParaRPr lang="he-IL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355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5E73C-9CC7-0745-EE32-DC3CC0E54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F33938-914E-7182-6842-5228E1B8A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הגנות בצד שרת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F00978-D5DB-AC5E-5D9D-423B560A2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המטרה הבאה שלנו היא לבחון בנפרד את היעילות של כל אחת מההגנות הממומשות בשרת שלנו. ההגנות שבחנו: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1.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Pepper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2.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CAPTCHA</a:t>
            </a: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3.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Limiting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4.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TOTP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5.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Account Lockout</a:t>
            </a:r>
          </a:p>
        </p:txBody>
      </p:sp>
    </p:spTree>
    <p:extLst>
      <p:ext uri="{BB962C8B-B14F-4D97-AF65-F5344CB8AC3E}">
        <p14:creationId xmlns:p14="http://schemas.microsoft.com/office/powerpoint/2010/main" val="4098969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06CA2D-7AB9-6E3E-BCAB-86D32AC522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Limiting VS. Default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8450D546-13B9-9A6A-06DA-099CB135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50055175"/>
              </p:ext>
            </p:extLst>
          </p:nvPr>
        </p:nvGraphicFramePr>
        <p:xfrm>
          <a:off x="2471737" y="1690688"/>
          <a:ext cx="7248525" cy="43795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27974054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7B1F31-373D-87F9-A53C-2812691B77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49FE61-A9E3-48C4-4EED-9F28AF6579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Pepper VS. Default</a:t>
            </a:r>
          </a:p>
        </p:txBody>
      </p:sp>
      <p:graphicFrame>
        <p:nvGraphicFramePr>
          <p:cNvPr id="3" name="Chart 2">
            <a:extLst>
              <a:ext uri="{FF2B5EF4-FFF2-40B4-BE49-F238E27FC236}">
                <a16:creationId xmlns:a16="http://schemas.microsoft.com/office/drawing/2014/main" id="{7FC87234-DC84-3F56-1060-DC06F8C0C6A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2708557"/>
              </p:ext>
            </p:extLst>
          </p:nvPr>
        </p:nvGraphicFramePr>
        <p:xfrm>
          <a:off x="2449945" y="1690688"/>
          <a:ext cx="7292109" cy="437526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6568210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E49F30-10F6-DFAA-3085-A97BC019D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F29798-D584-4792-9B62-3F5F5C36D6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0BDA3D1-6CD6-E34D-81D4-FD5446F133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CAPTCHA VS. Default</a:t>
            </a: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5C94226C-FC79-7FF4-CB05-A2B6FB9F30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84009375"/>
              </p:ext>
            </p:extLst>
          </p:nvPr>
        </p:nvGraphicFramePr>
        <p:xfrm>
          <a:off x="838200" y="1845426"/>
          <a:ext cx="10512547" cy="445030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4410091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D5429C-4007-9662-5D02-2D753BE5A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895D0A-E823-A1D7-C557-AE2F4FEAFE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תוצאות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3AF78-B9A0-4FB8-D2D3-A088FD9679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15313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 algn="r" rtl="1"/>
            <a:r>
              <a:rPr lang="he-IL" b="1" dirty="0">
                <a:latin typeface="Arial" panose="020B0604020202020204" pitchFamily="34" charset="0"/>
                <a:cs typeface="Arial" panose="020B0604020202020204" pitchFamily="34" charset="0"/>
              </a:rPr>
              <a:t>ההמלצות שלנו לשימוש בהגנות בשרת: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1. הפעלה של מנגנון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TOTP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יכולה למנוע בצורה מוחלטת מתקפות "טיפשות" מהסוג שביצענו בדוח זה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2. הפעלה של מנגנון נעילת חשבונות (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Account Lockout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) גם הוא יכול למנוע בצורה מוחלטת את ההצלחה של מתקפות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Bruteforce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ו-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Password Spraying</a:t>
            </a:r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3. הגנות כגון שימוש ב-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Pepper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, והפעלת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CAPTCHA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ו-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Rate limiting</a:t>
            </a:r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 יכולות להאט את התוקף בצורה משמעותית, אך לא למנוע בצורה מוחלטת את הפריצה מול תוקף חזק בעל משאבים רבים</a:t>
            </a:r>
          </a:p>
          <a:p>
            <a:pPr algn="r" rtl="1"/>
            <a:endParaRPr lang="he-IL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r" rt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56539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91CDDC-FF62-3171-FEAC-729F2DB3D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he-IL" dirty="0">
                <a:latin typeface="Arial" panose="020B0604020202020204" pitchFamily="34" charset="0"/>
                <a:cs typeface="Arial" panose="020B0604020202020204" pitchFamily="34" charset="0"/>
              </a:rPr>
              <a:t>סיכום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B3E368CD-8954-E177-E8DA-A810447E30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39958620"/>
              </p:ext>
            </p:extLst>
          </p:nvPr>
        </p:nvGraphicFramePr>
        <p:xfrm>
          <a:off x="1248757" y="1092393"/>
          <a:ext cx="8285018" cy="497101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35713804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</TotalTime>
  <Words>460</Words>
  <Application>Microsoft Office PowerPoint</Application>
  <PresentationFormat>Widescreen</PresentationFormat>
  <Paragraphs>55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Aptos</vt:lpstr>
      <vt:lpstr>Aptos Display</vt:lpstr>
      <vt:lpstr>Arial</vt:lpstr>
      <vt:lpstr>Office Theme</vt:lpstr>
      <vt:lpstr>מטלה תכנותית קורס 20940</vt:lpstr>
      <vt:lpstr>מבוא</vt:lpstr>
      <vt:lpstr>תהליך הגיבוב</vt:lpstr>
      <vt:lpstr>מתקפת Bruteforce</vt:lpstr>
      <vt:lpstr>מתקפת Password Spray</vt:lpstr>
      <vt:lpstr>מתודולוגיית ניסויים</vt:lpstr>
      <vt:lpstr>PowerPoint Presentation</vt:lpstr>
      <vt:lpstr>PowerPoint Presentation</vt:lpstr>
      <vt:lpstr>התוצאות</vt:lpstr>
      <vt:lpstr>הגנות בצד שרת</vt:lpstr>
      <vt:lpstr>Rate Limiting VS. Default</vt:lpstr>
      <vt:lpstr>Pepper VS. Default</vt:lpstr>
      <vt:lpstr>CAPTCHA VS. Default</vt:lpstr>
      <vt:lpstr>תוצאות</vt:lpstr>
      <vt:lpstr>סיכום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Ido Calman</dc:creator>
  <cp:lastModifiedBy>Ido Calman</cp:lastModifiedBy>
  <cp:revision>13</cp:revision>
  <dcterms:created xsi:type="dcterms:W3CDTF">2026-01-05T19:46:59Z</dcterms:created>
  <dcterms:modified xsi:type="dcterms:W3CDTF">2026-01-07T06:52:18Z</dcterms:modified>
</cp:coreProperties>
</file>